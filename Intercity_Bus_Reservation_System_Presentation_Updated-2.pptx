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80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23760" y="731520"/>
            <a:ext cx="4297680" cy="5394960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612648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697380"/>
                </a:solidFill>
                <a:latin typeface="Aptos"/>
              </a:defRPr>
            </a:pPr>
            <a:r>
              <a:t>JAVA PROGRAMMING PROJECT  |  CO1–CO6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1417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B304D"/>
                </a:solidFill>
                <a:latin typeface="Aptos"/>
              </a:defRPr>
            </a:pPr>
            <a:r>
              <a:t>INTERCITY BUS</a:t>
            </a:r>
          </a:p>
          <a:p>
            <a:pPr>
              <a:spcAft>
                <a:spcPts val="500"/>
              </a:spcAft>
              <a:defRPr sz="3100" b="1">
                <a:solidFill>
                  <a:srgbClr val="1B304D"/>
                </a:solidFill>
                <a:latin typeface="Aptos"/>
              </a:defRPr>
            </a:pPr>
            <a:r>
              <a:t>RESERVATION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063240"/>
            <a:ext cx="566928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642"/>
                </a:solidFill>
                <a:latin typeface="Aptos"/>
              </a:defRPr>
            </a:pPr>
            <a:r>
              <a:t>Book tickets. Manage passenger details.</a:t>
            </a:r>
          </a:p>
          <a:p>
            <a:pPr>
              <a:spcAft>
                <a:spcPts val="500"/>
              </a:spcAft>
              <a:defRPr sz="1800" b="0">
                <a:solidFill>
                  <a:srgbClr val="2D3642"/>
                </a:solidFill>
                <a:latin typeface="Aptos"/>
              </a:defRPr>
            </a:pPr>
            <a:r>
              <a:t>Make bus reservations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800600"/>
            <a:ext cx="5852160" cy="7772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B. Vaishnavi  —  2620030613</a:t>
            </a:r>
          </a:p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S. Lasya       —  2620030612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188720"/>
            <a:ext cx="3566160" cy="4114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E8B137"/>
                </a:solidFill>
                <a:latin typeface="Aptos"/>
              </a:defRPr>
            </a:pPr>
            <a:r>
              <a:t>TRAVEL MADE SIMPLE</a:t>
            </a:r>
          </a:p>
        </p:txBody>
      </p:sp>
      <p:sp>
        <p:nvSpPr>
          <p:cNvPr id="9" name="Oval 8"/>
          <p:cNvSpPr/>
          <p:nvPr/>
        </p:nvSpPr>
        <p:spPr>
          <a:xfrm>
            <a:off x="7909560" y="2286000"/>
            <a:ext cx="1051560" cy="1051560"/>
          </a:xfrm>
          <a:prstGeom prst="ellipse">
            <a:avLst/>
          </a:prstGeom>
          <a:solidFill>
            <a:srgbClr val="FFFFFF"/>
          </a:solidFill>
          <a:ln>
            <a:solidFill>
              <a:srgbClr val="E8B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2624328"/>
            <a:ext cx="105156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B304D"/>
                </a:solidFill>
                <a:latin typeface="Aptos"/>
              </a:defRPr>
            </a:pPr>
            <a:r>
              <a:t>CITY A</a:t>
            </a:r>
          </a:p>
        </p:txBody>
      </p:sp>
      <p:sp>
        <p:nvSpPr>
          <p:cNvPr id="11" name="Oval 10"/>
          <p:cNvSpPr/>
          <p:nvPr/>
        </p:nvSpPr>
        <p:spPr>
          <a:xfrm>
            <a:off x="9738360" y="2286000"/>
            <a:ext cx="1051560" cy="1051560"/>
          </a:xfrm>
          <a:prstGeom prst="ellipse">
            <a:avLst/>
          </a:prstGeom>
          <a:solidFill>
            <a:srgbClr val="FFFFFF"/>
          </a:solidFill>
          <a:ln>
            <a:solidFill>
              <a:srgbClr val="E8B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38360" y="2624328"/>
            <a:ext cx="105156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B304D"/>
                </a:solidFill>
                <a:latin typeface="Aptos"/>
              </a:defRPr>
            </a:pPr>
            <a:r>
              <a:t>CITY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832" y="2761488"/>
            <a:ext cx="822960" cy="36576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3977639"/>
            <a:ext cx="3474720" cy="10058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PASSENGER  →  BUS  → 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166360"/>
            <a:ext cx="356616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7DEE7"/>
                </a:solidFill>
                <a:latin typeface="Aptos"/>
              </a:defRPr>
            </a:pPr>
            <a:r>
              <a:t>CSPG •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Abstract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A Java application concept for organizing intercity bus bookings.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5486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82296" cy="361188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83664"/>
            <a:ext cx="512064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PROJECT 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04288"/>
            <a:ext cx="5120640" cy="29535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Records passenger and journey details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Selects source, destination and travel date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Checks requested seat availability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Calculates fares and confirms bookings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Displays reservation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82296" cy="3611880"/>
          </a:xfrm>
          <a:prstGeom prst="rect">
            <a:avLst/>
          </a:prstGeom>
          <a:solidFill>
            <a:srgbClr val="2B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883664"/>
            <a:ext cx="489204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PROBLEM TO 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304288"/>
            <a:ext cx="4892040" cy="29535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Manual booking can lead to confusion about passenger information, available seats and ticket details.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The system structures these steps into a clear booking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881360" cy="4114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B304D"/>
                </a:solidFill>
                <a:latin typeface="Aptos"/>
              </a:defRPr>
            </a:pPr>
            <a:r>
              <a:t>PROJECT GOAL  •  Make booking information easier to record, validate and retrieve.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t>CO1 — JAVA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Input, Data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The program follows the basic computational pattern: input → process →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82296" cy="356616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792224"/>
            <a:ext cx="315468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12848"/>
            <a:ext cx="3154680" cy="2907791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Passenger name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Source and destination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Journey date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Number of seats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82296" cy="3566160"/>
          </a:xfrm>
          <a:prstGeom prst="rect">
            <a:avLst/>
          </a:prstGeom>
          <a:solidFill>
            <a:srgbClr val="2B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92224"/>
            <a:ext cx="315468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12848"/>
            <a:ext cx="3154680" cy="2907791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Validate entries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Check seat count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Calculate fare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Prepare reservation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82296" cy="356616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792224"/>
            <a:ext cx="315468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12848"/>
            <a:ext cx="3154680" cy="2907791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Booking status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Passenger details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Bus and route details</a:t>
            </a:r>
          </a:p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• Fare and ticket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97380"/>
                </a:solidFill>
                <a:latin typeface="Aptos"/>
              </a:defRPr>
            </a:pPr>
            <a:r>
              <a:t>Java concepts: Scanner for input, String for text, int for seat counts, and formatted output for ticket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t>CO2 — CONDITIONS &amp;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Reservation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Conditions decide whether a booking can proceed.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577840" cy="3383280"/>
          </a:xfrm>
          <a:prstGeom prst="roundRect">
            <a:avLst/>
          </a:prstGeom>
          <a:solidFill>
            <a:srgbClr val="1E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10512"/>
            <a:ext cx="5248655" cy="31546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500">
                <a:solidFill>
                  <a:srgbClr val="E8EEF6"/>
                </a:solidFill>
                <a:latin typeface="Consolas"/>
              </a:defRPr>
            </a:pPr>
            <a:r>
              <a:t>if (seatsRequested &lt;= 0) {</a:t>
            </a:r>
            <a:br/>
            <a:r>
              <a:t>    System.out.println("Invalid seat count");</a:t>
            </a:r>
            <a:br/>
            <a:r>
              <a:t>} else if (seatsRequested &gt; availableSeats) {</a:t>
            </a:r>
            <a:br/>
            <a:r>
              <a:t>    System.out.println("Seats not available");</a:t>
            </a:r>
            <a:br/>
            <a:r>
              <a:t>} else {</a:t>
            </a:r>
            <a:br/>
            <a:r>
              <a:t>    System.out.println("Booking can proceed");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9164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1691640"/>
            <a:ext cx="82296" cy="338328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1837944"/>
            <a:ext cx="461772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258568"/>
            <a:ext cx="4617720" cy="2724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if-else checks booking conditions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Loops can repeat passenger or booking entry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Validation prevents invalid requests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Status messages explain 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7380"/>
                </a:solidFill>
                <a:latin typeface="Aptos"/>
              </a:defRPr>
            </a:pPr>
            <a:r>
              <a:t>Example only: connect these checks to the actual bus and reservation data in the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t>CO3 — METHODS &amp;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Reusable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Methods keep repeated calculations organized and easier to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86400" cy="3246120"/>
          </a:xfrm>
          <a:prstGeom prst="roundRect">
            <a:avLst/>
          </a:prstGeom>
          <a:solidFill>
            <a:srgbClr val="1E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10512"/>
            <a:ext cx="5157216" cy="301752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500">
                <a:solidFill>
                  <a:srgbClr val="E8EEF6"/>
                </a:solidFill>
                <a:latin typeface="Consolas"/>
              </a:defRPr>
            </a:pPr>
            <a:r>
              <a:t>static double calculateFare(</a:t>
            </a:r>
            <a:br/>
            <a:r>
              <a:t>        double farePerSeat, int seats) {</a:t>
            </a:r>
            <a:br/>
            <a:r>
              <a:t>    return farePerSeat * seats;</a:t>
            </a:r>
            <a:br/>
            <a:r>
              <a:t>}</a:t>
            </a:r>
            <a:br/>
            <a:br/>
            <a:r>
              <a:t>// Example call</a:t>
            </a:r>
            <a:br/>
            <a:r>
              <a:t> double total = calculateFare(450.0, 2);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1206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82296" cy="324612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837944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58568"/>
            <a:ext cx="4754879" cy="25877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A method groups one task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Parameters carry input values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A return value provides the result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Arrays can store multiple fares or seat numbers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Reuse avoids duplicating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607040" cy="5029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B304D"/>
                </a:solidFill>
                <a:latin typeface="Aptos"/>
              </a:defRPr>
            </a:pPr>
            <a:r>
              <a:t>Illustration: ₹450 per seat × 2 seats = ₹900 total fare.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00055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rPr dirty="0"/>
              <a:t>CO </a:t>
            </a:r>
            <a:r>
              <a:rPr lang="en-US" dirty="0"/>
              <a:t>4</a:t>
            </a:r>
            <a:r>
              <a:rPr dirty="0"/>
              <a:t>— CLASSES, OBJECTS &amp;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Object-Oriented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Classes model the real-world entities used in the reservation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623560" cy="3931920"/>
          </a:xfrm>
          <a:prstGeom prst="roundRect">
            <a:avLst/>
          </a:prstGeom>
          <a:solidFill>
            <a:srgbClr val="1E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5294376" cy="370332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300">
                <a:solidFill>
                  <a:srgbClr val="E8EEF6"/>
                </a:solidFill>
                <a:latin typeface="Consolas"/>
              </a:defRPr>
            </a:pPr>
            <a:r>
              <a:t>class Bus {</a:t>
            </a:r>
            <a:br/>
            <a:r>
              <a:t>    private String busNumber;</a:t>
            </a:r>
            <a:br/>
            <a:r>
              <a:t>    private String source;</a:t>
            </a:r>
            <a:br/>
            <a:r>
              <a:t>    private String destination;</a:t>
            </a:r>
            <a:br/>
            <a:r>
              <a:t>    private int availableSeats;</a:t>
            </a:r>
            <a:br/>
            <a:br/>
            <a:r>
              <a:t>    Bus(String number, String from,</a:t>
            </a:r>
            <a:br/>
            <a:r>
              <a:t>        String to, int seats) {</a:t>
            </a:r>
            <a:br/>
            <a:r>
              <a:t>        busNumber = number;</a:t>
            </a:r>
            <a:br/>
            <a:r>
              <a:t>        source = from;</a:t>
            </a:r>
            <a:br/>
            <a:r>
              <a:t>        destination = to;</a:t>
            </a:r>
            <a:br/>
            <a:r>
              <a:t>        availableSeats = seats;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45920"/>
            <a:ext cx="49834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1645920"/>
            <a:ext cx="82296" cy="393192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1792224"/>
            <a:ext cx="461772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212848"/>
            <a:ext cx="4617720" cy="32735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Bus is a blueprint for bus objects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Fields store route and seat information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The constructor initializes an object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private fields support encapsulation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Objects represent individual buses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00055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rPr dirty="0"/>
              <a:t>CO</a:t>
            </a:r>
            <a:r>
              <a:rPr lang="en-US" dirty="0"/>
              <a:t>5</a:t>
            </a:r>
            <a:r>
              <a:rPr dirty="0"/>
              <a:t> — MODELLING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Passenger, Bus &amp; 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A reservation connects the passenger with the bus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383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82296" cy="306324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37944"/>
            <a:ext cx="301752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PASSENGER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58568"/>
            <a:ext cx="3017520" cy="24048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Stores passenger name and contact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383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82296" cy="3063240"/>
          </a:xfrm>
          <a:prstGeom prst="rect">
            <a:avLst/>
          </a:prstGeom>
          <a:solidFill>
            <a:srgbClr val="2B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837944"/>
            <a:ext cx="301752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58568"/>
            <a:ext cx="3017520" cy="24048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Stores bus number, route and available seats.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691640"/>
            <a:ext cx="3383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691640"/>
            <a:ext cx="82296" cy="306324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837944"/>
            <a:ext cx="301752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RESERVATION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258568"/>
            <a:ext cx="3017520" cy="24048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3642"/>
                </a:solidFill>
                <a:latin typeface="Aptos"/>
              </a:defRPr>
            </a:pPr>
            <a:r>
              <a:t>Stores the passenger, selected bus and seats booked.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698480" cy="7772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304D"/>
                </a:solidFill>
                <a:latin typeface="Aptos"/>
              </a:defRPr>
            </a:pPr>
            <a:r>
              <a:t>Nouns → classes: Passenger, Bus, Reservation</a:t>
            </a:r>
          </a:p>
          <a:p>
            <a:pPr>
              <a:spcAft>
                <a:spcPts val="500"/>
              </a:spcAft>
              <a:defRPr sz="1500" b="1">
                <a:solidFill>
                  <a:srgbClr val="1B304D"/>
                </a:solidFill>
                <a:latin typeface="Aptos"/>
              </a:defRPr>
            </a:pPr>
            <a:r>
              <a:t>Verbs → methods: bookTicket(), checkAvailability(), cancelReservation()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00055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rPr dirty="0"/>
              <a:t>CO</a:t>
            </a:r>
            <a:r>
              <a:rPr lang="en-US" dirty="0"/>
              <a:t>6</a:t>
            </a:r>
            <a:r>
              <a:rPr dirty="0"/>
              <a:t>— REUSABLE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Interfaces &amp; Booking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An interface defines an operation that a class agrees to provide.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577840" cy="3291840"/>
          </a:xfrm>
          <a:prstGeom prst="roundRect">
            <a:avLst/>
          </a:prstGeom>
          <a:solidFill>
            <a:srgbClr val="1E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10512"/>
            <a:ext cx="5248655" cy="30632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400">
                <a:solidFill>
                  <a:srgbClr val="E8EEF6"/>
                </a:solidFill>
                <a:latin typeface="Consolas"/>
              </a:defRPr>
            </a:pPr>
            <a:r>
              <a:t>interface Bookable {</a:t>
            </a:r>
            <a:br/>
            <a:r>
              <a:t>    void bookTicket();</a:t>
            </a:r>
            <a:br/>
            <a:r>
              <a:t>}</a:t>
            </a:r>
            <a:br/>
            <a:br/>
            <a:r>
              <a:t>class BusReservation implements Bookable {</a:t>
            </a:r>
            <a:br/>
            <a:r>
              <a:t>    public void bookTicket() {</a:t>
            </a:r>
            <a:br/>
            <a:r>
              <a:t>        System.out.println(</a:t>
            </a:r>
            <a:br/>
            <a:r>
              <a:t>            "Ticket booked successfully");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691640"/>
            <a:ext cx="82296" cy="329184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7" y="1837944"/>
            <a:ext cx="466344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2258568"/>
            <a:ext cx="4663440" cy="2633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3642"/>
                </a:solidFill>
                <a:latin typeface="Aptos"/>
              </a:defRPr>
            </a:pPr>
            <a:r>
              <a:t>• An interface defines a contract</a:t>
            </a:r>
          </a:p>
          <a:p>
            <a:pPr>
              <a:spcAft>
                <a:spcPts val="500"/>
              </a:spcAft>
              <a:defRPr sz="1500" b="0">
                <a:solidFill>
                  <a:srgbClr val="2D3642"/>
                </a:solidFill>
                <a:latin typeface="Aptos"/>
              </a:defRPr>
            </a:pPr>
            <a:r>
              <a:t>• implements provides the required method</a:t>
            </a:r>
          </a:p>
          <a:p>
            <a:pPr>
              <a:spcAft>
                <a:spcPts val="500"/>
              </a:spcAft>
              <a:defRPr sz="1500" b="0">
                <a:solidFill>
                  <a:srgbClr val="2D3642"/>
                </a:solidFill>
                <a:latin typeface="Aptos"/>
              </a:defRPr>
            </a:pPr>
            <a:r>
              <a:t>• Classes can use a common booking operation</a:t>
            </a:r>
          </a:p>
          <a:p>
            <a:pPr>
              <a:spcAft>
                <a:spcPts val="500"/>
              </a:spcAft>
              <a:defRPr sz="1500" b="0">
                <a:solidFill>
                  <a:srgbClr val="2D3642"/>
                </a:solidFill>
                <a:latin typeface="Aptos"/>
              </a:defRPr>
            </a:pPr>
            <a:r>
              <a:t>• Inheritance can model an “is-a” relationship</a:t>
            </a:r>
          </a:p>
          <a:p>
            <a:pPr>
              <a:spcAft>
                <a:spcPts val="500"/>
              </a:spcAft>
              <a:defRPr sz="1500" b="0">
                <a:solidFill>
                  <a:srgbClr val="2D3642"/>
                </a:solidFill>
                <a:latin typeface="Aptos"/>
              </a:defRPr>
            </a:pPr>
            <a:r>
              <a:t>• Overriding provides class-specific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89920" cy="4572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Use inheritance only when the relationship is genuinely an “is-a” relationship.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00055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rPr dirty="0"/>
              <a:t>CO</a:t>
            </a:r>
            <a:r>
              <a:rPr lang="en-US" dirty="0"/>
              <a:t>6</a:t>
            </a:r>
            <a:r>
              <a:rPr dirty="0"/>
              <a:t> —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Errors, Exceptions &amp; Safe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Exception handling helps the application respond to invalid booking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669280" cy="3794760"/>
          </a:xfrm>
          <a:prstGeom prst="roundRect">
            <a:avLst/>
          </a:prstGeom>
          <a:solidFill>
            <a:srgbClr val="1E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5340096" cy="356616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200">
                <a:solidFill>
                  <a:srgbClr val="E8EEF6"/>
                </a:solidFill>
                <a:latin typeface="Consolas"/>
              </a:defRPr>
            </a:pPr>
            <a:r>
              <a:t>try {</a:t>
            </a:r>
            <a:br/>
            <a:r>
              <a:t>    if (seatsBooked &lt;= 0) {</a:t>
            </a:r>
            <a:br/>
            <a:r>
              <a:t>        throw new IllegalArgumentException(</a:t>
            </a:r>
            <a:br/>
            <a:r>
              <a:t>            "Seat count must be positive");</a:t>
            </a:r>
            <a:br/>
            <a:r>
              <a:t>    }</a:t>
            </a:r>
            <a:br/>
            <a:r>
              <a:t>    System.out.println("Request accepted");</a:t>
            </a:r>
            <a:br/>
            <a:r>
              <a:t>} catch (IllegalArgumentException e) {</a:t>
            </a:r>
            <a:br/>
            <a:r>
              <a:t>    System.out.println("Booking error: "</a:t>
            </a:r>
            <a:br/>
            <a:r>
              <a:t>        + e.getMessage());</a:t>
            </a:r>
            <a:br/>
            <a:r>
              <a:t>} finally {</a:t>
            </a:r>
            <a:br/>
            <a:r>
              <a:t>    System.out.println("Process completed");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93776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645920"/>
            <a:ext cx="82296" cy="379476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4848" y="1792224"/>
            <a:ext cx="457200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212848"/>
            <a:ext cx="4572000" cy="31363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3642"/>
                </a:solidFill>
                <a:latin typeface="Aptos"/>
              </a:defRPr>
            </a:pPr>
            <a:r>
              <a:t>• try contains code that may fail</a:t>
            </a:r>
          </a:p>
          <a:p>
            <a:pPr>
              <a:spcAft>
                <a:spcPts val="500"/>
              </a:spcAft>
              <a:defRPr sz="1400" b="0">
                <a:solidFill>
                  <a:srgbClr val="2D3642"/>
                </a:solidFill>
                <a:latin typeface="Aptos"/>
              </a:defRPr>
            </a:pPr>
            <a:r>
              <a:t>• throw raises an exception</a:t>
            </a:r>
          </a:p>
          <a:p>
            <a:pPr>
              <a:spcAft>
                <a:spcPts val="500"/>
              </a:spcAft>
              <a:defRPr sz="1400" b="0">
                <a:solidFill>
                  <a:srgbClr val="2D3642"/>
                </a:solidFill>
                <a:latin typeface="Aptos"/>
              </a:defRPr>
            </a:pPr>
            <a:r>
              <a:t>• catch handles a matching exception</a:t>
            </a:r>
          </a:p>
          <a:p>
            <a:pPr>
              <a:spcAft>
                <a:spcPts val="500"/>
              </a:spcAft>
              <a:defRPr sz="1400" b="0">
                <a:solidFill>
                  <a:srgbClr val="2D3642"/>
                </a:solidFill>
                <a:latin typeface="Aptos"/>
              </a:defRPr>
            </a:pPr>
            <a:r>
              <a:t>• finally is used for cleanup or final steps</a:t>
            </a:r>
          </a:p>
          <a:p>
            <a:pPr>
              <a:spcAft>
                <a:spcPts val="500"/>
              </a:spcAft>
              <a:defRPr sz="1400" b="0">
                <a:solidFill>
                  <a:srgbClr val="2D3642"/>
                </a:solidFill>
                <a:latin typeface="Aptos"/>
              </a:defRPr>
            </a:pPr>
            <a:r>
              <a:t>• Checked and unchecked exceptions differ in how they must be handled or declared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t>Validation &amp; Error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Give the user a clear message instead of allowing an invalid reservation.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82296" cy="347472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37944"/>
            <a:ext cx="4983479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VALIDATE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58568"/>
            <a:ext cx="4983479" cy="2816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Passenger name is present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Source and destination are valid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Journey date is acceptable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Seat count is positive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Requested seats do not exceed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82296" cy="3474720"/>
          </a:xfrm>
          <a:prstGeom prst="rect">
            <a:avLst/>
          </a:prstGeom>
          <a:solidFill>
            <a:srgbClr val="2B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837944"/>
            <a:ext cx="4983479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HANDLE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58568"/>
            <a:ext cx="4983479" cy="2816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Display useful error messages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Use try-catch for expected failures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Use throws when a method declares a possible exception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Consider a custom SeatNotAvailableException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B304D"/>
                </a:solidFill>
                <a:latin typeface="Aptos"/>
              </a:defRPr>
            </a:pPr>
            <a:r>
              <a:t>Design principle: validate early, fail safely and report the reason clearly.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697380"/>
                </a:solidFill>
                <a:latin typeface="Aptos"/>
              </a:defRPr>
            </a:pPr>
            <a:r>
              <a:t>WORKFLOW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304D"/>
                </a:solidFill>
                <a:latin typeface="Aptos"/>
              </a:defRPr>
            </a:pPr>
            <a:r>
              <a:rPr dirty="0"/>
              <a:t>How the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80"/>
                </a:solidFill>
                <a:latin typeface="Aptos"/>
              </a:defRPr>
            </a:pPr>
            <a:r>
              <a:t>A simple booking workflow from passenger input to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96112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1" y="1938528"/>
            <a:ext cx="566928" cy="566928"/>
          </a:xfrm>
          <a:prstGeom prst="ellipse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093976"/>
            <a:ext cx="566928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304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56815"/>
            <a:ext cx="242316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3642"/>
                </a:solidFill>
                <a:latin typeface="Aptos"/>
              </a:defRPr>
            </a:pPr>
            <a:r>
              <a:t>Enter passenger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45152" y="1938528"/>
            <a:ext cx="566928" cy="566928"/>
          </a:xfrm>
          <a:prstGeom prst="ellipse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2093976"/>
            <a:ext cx="566928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304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956815"/>
            <a:ext cx="242316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3642"/>
                </a:solidFill>
                <a:latin typeface="Aptos"/>
              </a:defRPr>
            </a:pPr>
            <a:r>
              <a:t>Choose route and journey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5632" y="1938528"/>
            <a:ext cx="566928" cy="566928"/>
          </a:xfrm>
          <a:prstGeom prst="ellipse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093976"/>
            <a:ext cx="566928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304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1956815"/>
            <a:ext cx="242316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3642"/>
                </a:solidFill>
                <a:latin typeface="Aptos"/>
              </a:defRPr>
            </a:pPr>
            <a:r>
              <a:t>Select number of seats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1" y="3538728"/>
            <a:ext cx="566928" cy="566928"/>
          </a:xfrm>
          <a:prstGeom prst="ellipse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694176"/>
            <a:ext cx="566928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304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557015"/>
            <a:ext cx="242316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3642"/>
                </a:solidFill>
                <a:latin typeface="Aptos"/>
              </a:defRPr>
            </a:pPr>
            <a:r>
              <a:t>Validate and check availability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375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45152" y="3538728"/>
            <a:ext cx="566928" cy="566928"/>
          </a:xfrm>
          <a:prstGeom prst="ellipse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3694176"/>
            <a:ext cx="566928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304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557015"/>
            <a:ext cx="242316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3642"/>
                </a:solidFill>
                <a:latin typeface="Aptos"/>
              </a:defRPr>
            </a:pPr>
            <a:r>
              <a:t>Calculate fare and confirm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3375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85632" y="3538728"/>
            <a:ext cx="566928" cy="566928"/>
          </a:xfrm>
          <a:prstGeom prst="ellipse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3694176"/>
            <a:ext cx="566928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304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3557015"/>
            <a:ext cx="242316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3642"/>
                </a:solidFill>
                <a:latin typeface="Aptos"/>
              </a:defRPr>
            </a:pPr>
            <a:r>
              <a:t>Display ticket or error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66360"/>
            <a:ext cx="10789920" cy="7315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304D"/>
                </a:solidFill>
                <a:latin typeface="Aptos"/>
              </a:defRPr>
            </a:pPr>
            <a:r>
              <a:t>TEST CASES  •  Valid booking accepted  •  Negative/zero seats rejected  •  Unavailable seats rejected  •  Successful booking displays ticket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97380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B304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400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82296" cy="3154680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6035040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6035040" cy="24963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Classes and objects model buses, passengers and reservations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Encapsulation protects important data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Interfaces support reusable operations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Exceptions help manage invalid requests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Methods organize booking and fare calculations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4206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82296" cy="3154680"/>
          </a:xfrm>
          <a:prstGeom prst="rect">
            <a:avLst/>
          </a:prstGeom>
          <a:solidFill>
            <a:srgbClr val="2B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975104"/>
            <a:ext cx="3840479" cy="34747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304D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395728"/>
            <a:ext cx="3840479" cy="24963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Database storage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Online payment integration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Seat selection and cancellation</a:t>
            </a:r>
          </a:p>
          <a:p>
            <a:pPr>
              <a:spcAft>
                <a:spcPts val="500"/>
              </a:spcAft>
              <a:defRPr sz="1600" b="0">
                <a:solidFill>
                  <a:srgbClr val="2D3642"/>
                </a:solidFill>
                <a:latin typeface="Aptos"/>
              </a:defRPr>
            </a:pPr>
            <a:r>
              <a:t>• Booking history and ticket printing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10789920" cy="5029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B304D"/>
                </a:solidFill>
                <a:latin typeface="Aptos"/>
              </a:defRPr>
            </a:pPr>
            <a:r>
              <a:t>KEY BENEFIT  •  A structured way to manage intercity bus bookings and seat availability.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789920" cy="4114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697380"/>
                </a:solidFill>
                <a:latin typeface="Aptos"/>
              </a:defRPr>
            </a:pPr>
            <a:r>
              <a:t>THANK YOU!   |   B. Vaishnavi — 2620030613   •   S. Lasya — 2620030612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A71D7-3B40-F900-E91B-DB871B7ED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33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2743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defRPr sz="1100" b="1">
                <a:solidFill>
                  <a:srgbClr val="697380"/>
                </a:solidFill>
                <a:latin typeface="Aptos"/>
              </a:defRPr>
            </a:pPr>
            <a:r>
              <a:t>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7315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defRPr sz="3400" b="1">
                <a:solidFill>
                  <a:srgbClr val="1B304D"/>
                </a:solidFill>
                <a:latin typeface="Aptos"/>
              </a:defRPr>
            </a:pPr>
            <a:r>
              <a:t>GITHUB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defRPr sz="800" b="1">
                <a:solidFill>
                  <a:srgbClr val="697380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17920"/>
            <a:ext cx="548640" cy="228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32720" cy="5303520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1600200"/>
            <a:ext cx="9235440" cy="9144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defRPr sz="4200" b="1">
                <a:solidFill>
                  <a:srgbClr val="E8B137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0"/>
            <a:ext cx="905256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defRPr sz="2100" b="0">
                <a:solidFill>
                  <a:srgbClr val="FFFFFF"/>
                </a:solidFill>
                <a:latin typeface="Aptos"/>
              </a:defRPr>
            </a:pPr>
            <a:r>
              <a:t>Questions &amp; feedback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77639"/>
            <a:ext cx="8503920" cy="7315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B. Vaishnavi — 2620030613</a:t>
            </a:r>
            <a:br/>
            <a:r>
              <a:t>S. Lasya — 2620030612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257800"/>
            <a:ext cx="9052560" cy="32004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defRPr sz="1000" b="1">
                <a:solidFill>
                  <a:srgbClr val="D7DEE7"/>
                </a:solidFill>
                <a:latin typeface="Aptos"/>
              </a:defRPr>
            </a:pPr>
            <a:r>
              <a:t>INTERCITY BUS RESERVATION SYSTEM • JAVA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1286</Words>
  <Application>Microsoft Office PowerPoint</Application>
  <PresentationFormat>Widescreen</PresentationFormat>
  <Paragraphs>181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Veneela keerthi Reddy</cp:lastModifiedBy>
  <cp:revision>2</cp:revision>
  <dcterms:created xsi:type="dcterms:W3CDTF">2013-01-27T09:14:16Z</dcterms:created>
  <dcterms:modified xsi:type="dcterms:W3CDTF">2026-10-16T08:22:10Z</dcterms:modified>
  <cp:category/>
</cp:coreProperties>
</file>